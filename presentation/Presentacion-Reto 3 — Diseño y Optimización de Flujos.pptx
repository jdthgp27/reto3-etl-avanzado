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8" r:id="rId17"/>
    <p:sldId id="349" r:id="rId18"/>
    <p:sldId id="350" r:id="rId19"/>
    <p:sldId id="351" r:id="rId20"/>
    <p:sldId id="347" r:id="rId2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5394" autoAdjust="0"/>
  </p:normalViewPr>
  <p:slideViewPr>
    <p:cSldViewPr snapToGrid="0">
      <p:cViewPr varScale="1">
        <p:scale>
          <a:sx n="127" d="100"/>
          <a:sy n="127" d="100"/>
        </p:scale>
        <p:origin x="110" y="206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F4636F07-0AC9-4F79-B905-B52056AAEFCC}" type="datetime1">
              <a:rPr lang="es-ES" smtClean="0"/>
              <a:t>17/09/2026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9E9D563E-BCB2-465B-8A3C-AC86CE64F69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80B6BFF3-16C2-4E56-BBD0-DD214C59E8A5}" type="datetime1">
              <a:rPr lang="es-ES" smtClean="0"/>
              <a:t>17/09/2026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8B990660-4B7D-4C11-96DB-B19FFA8CA9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2545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91274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74796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8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90959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12296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5858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76574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97884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es-ES" sz="4000" b="1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 </a:t>
            </a:r>
          </a:p>
          <a:p>
            <a:pPr lvl="3" rtl="0"/>
            <a:r>
              <a:rPr lang="es-ES"/>
              <a:t>Cuarto nivel </a:t>
            </a:r>
          </a:p>
          <a:p>
            <a:pPr lvl="4" rtl="0"/>
            <a:r>
              <a:rPr lang="es-ES"/>
              <a:t>Quinto nivel </a:t>
            </a:r>
          </a:p>
          <a:p>
            <a:pPr lvl="0"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es-ES" sz="2800"/>
            </a:lvl1pPr>
            <a:lvl2pPr marL="457200" indent="0">
              <a:buNone/>
              <a:defRPr lang="es-ES" sz="2400"/>
            </a:lvl2pPr>
            <a:lvl3pPr marL="914400" indent="0">
              <a:buNone/>
              <a:defRPr lang="es-ES" sz="2000"/>
            </a:lvl3pPr>
            <a:lvl4pPr marL="1371600" indent="0">
              <a:buNone/>
              <a:defRPr lang="es-ES" sz="1800"/>
            </a:lvl4pPr>
            <a:lvl5pPr marL="1828800" indent="0">
              <a:buNone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75" name="Marcador de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es-ES" sz="2800"/>
            </a:lvl1pPr>
            <a:lvl2pPr marL="457200" indent="0">
              <a:lnSpc>
                <a:spcPts val="2400"/>
              </a:lnSpc>
              <a:buNone/>
              <a:defRPr lang="es-ES" sz="2000"/>
            </a:lvl2pPr>
            <a:lvl3pPr marL="914400" indent="0">
              <a:lnSpc>
                <a:spcPts val="2400"/>
              </a:lnSpc>
              <a:buNone/>
              <a:defRPr lang="es-ES" sz="2000"/>
            </a:lvl3pPr>
            <a:lvl4pPr marL="1371600" indent="0">
              <a:lnSpc>
                <a:spcPts val="2400"/>
              </a:lnSpc>
              <a:buNone/>
              <a:defRPr lang="es-ES" sz="2000"/>
            </a:lvl4pPr>
            <a:lvl5pPr marL="1828800" indent="0">
              <a:lnSpc>
                <a:spcPts val="2400"/>
              </a:lnSpc>
              <a:buNone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  <a:lvl6pPr marL="1600200">
              <a:defRPr lang="es-ES"/>
            </a:lvl6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4" rtl="0"/>
            <a:r>
              <a:rPr lang="es-ES"/>
              <a:t>Cuarto nivel</a:t>
            </a:r>
          </a:p>
          <a:p>
            <a:pPr lvl="5" rtl="0"/>
            <a:r>
              <a:rPr lang="es-ES"/>
              <a:t>Quinto nivel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es-ES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es-ES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es-ES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es-ES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es-ES"/>
            </a:lvl1pPr>
            <a:lvl2pPr>
              <a:spcBef>
                <a:spcPts val="0"/>
              </a:spcBef>
              <a:spcAft>
                <a:spcPts val="600"/>
              </a:spcAft>
              <a:defRPr lang="es-ES"/>
            </a:lvl2pPr>
            <a:lvl3pPr>
              <a:spcBef>
                <a:spcPts val="0"/>
              </a:spcBef>
              <a:spcAft>
                <a:spcPts val="600"/>
              </a:spcAft>
              <a:defRPr lang="es-ES"/>
            </a:lvl3pPr>
            <a:lvl4pPr>
              <a:spcBef>
                <a:spcPts val="0"/>
              </a:spcBef>
              <a:spcAft>
                <a:spcPts val="600"/>
              </a:spcAft>
              <a:defRPr lang="es-ES" sz="2000"/>
            </a:lvl4pPr>
            <a:lvl5pPr>
              <a:spcBef>
                <a:spcPts val="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 </a:t>
            </a:r>
          </a:p>
          <a:p>
            <a:pPr lvl="3" rtl="0"/>
            <a:r>
              <a:rPr lang="es-ES"/>
              <a:t>Cuarto nivel </a:t>
            </a:r>
          </a:p>
          <a:p>
            <a:pPr lvl="4" rtl="0"/>
            <a:r>
              <a:rPr lang="es-ES"/>
              <a:t>Quinto nivel </a:t>
            </a:r>
          </a:p>
          <a:p>
            <a:pPr lvl="0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 noProof="0" dirty="0"/>
              <a:t>Haga clic para agregar un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7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3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7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7.png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26.png"/><Relationship Id="rId5" Type="http://schemas.openxmlformats.org/officeDocument/2006/relationships/hyperlink" Target="https://www.wallpaperflare.com/bebe-fondo-isamar-sirenita-wallpaper-pvjrr" TargetMode="External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7.png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28.png"/><Relationship Id="rId5" Type="http://schemas.openxmlformats.org/officeDocument/2006/relationships/hyperlink" Target="https://trasuntu.blogspot.com/2017/10/trasuntu-fondos.html" TargetMode="Externa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7.png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s://academy.hsoub.com/design/graphic/photoshop/%D9%83%D9%8A%D9%81%D9%8A%D8%A9-%D8%AA%D8%B7%D8%A8%D9%8A%D9%82-%D8%AA%D8%A3%D8%AB%D9%8A%D8%B1-%D8%A7%D9%84%D8%A5%D8%B6%D8%A7%D8%A1%D8%A7%D8%AA-%D8%A7%D9%84%D9%85%D8%AE%D8%AA%D9%84%D9%81%D8%A9-%D8%B9%D9%84%D9%89-%D8%A7%D9%84%D8%B5%D9%88%D8%B1-%D8%A7%D9%84%D8%B4%D8%AE%D8%B5%D9%8A%D8%A9-%D9%81%D9%8A-%D8%A7%D9%84%D9%81%D9%88%D8%AA%D9%88%D8%B4%D9%88%D8%A8-r378/" TargetMode="External"/><Relationship Id="rId4" Type="http://schemas.openxmlformats.org/officeDocument/2006/relationships/image" Target="../media/image29.jp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3.png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hyperlink" Target="https://creativecommons.org/licenses/by-nc-nd/3.0/" TargetMode="External"/><Relationship Id="rId5" Type="http://schemas.openxmlformats.org/officeDocument/2006/relationships/hyperlink" Target="https://zoomgraf.blogspot.com/2013/01/fondos-degradee-de-colores-pasteles.html" TargetMode="External"/><Relationship Id="rId4" Type="http://schemas.openxmlformats.org/officeDocument/2006/relationships/image" Target="../media/image3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0" y="960120"/>
            <a:ext cx="6149340" cy="204777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ctr" latinLnBrk="1"/>
            <a:r>
              <a:rPr lang="es-ES" sz="1800" dirty="0"/>
              <a:t>Reto 3 — Diseño y Optimización de Flujos ETL Avanzados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ACE7E0-31A2-C23A-DCDF-5B9AA4FB148C}"/>
              </a:ext>
            </a:extLst>
          </p:cNvPr>
          <p:cNvSpPr txBox="1"/>
          <p:nvPr/>
        </p:nvSpPr>
        <p:spPr>
          <a:xfrm>
            <a:off x="5408729" y="3741821"/>
            <a:ext cx="58841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/>
              <a:t>Pipeline ETL con Apache </a:t>
            </a:r>
            <a:r>
              <a:rPr lang="es-ES" b="1" dirty="0" err="1"/>
              <a:t>NiFi</a:t>
            </a:r>
            <a:r>
              <a:rPr lang="es-ES" b="1" dirty="0"/>
              <a:t>: 3 fuentes heterogéneas </a:t>
            </a:r>
          </a:p>
          <a:p>
            <a:pPr algn="ctr"/>
            <a:r>
              <a:rPr lang="es-ES" b="1" dirty="0"/>
              <a:t>integradas en un </a:t>
            </a:r>
            <a:r>
              <a:rPr lang="es-ES" b="1" dirty="0" err="1"/>
              <a:t>dataset</a:t>
            </a:r>
            <a:r>
              <a:rPr lang="es-ES" b="1" dirty="0"/>
              <a:t> único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A2F87E-87F9-2FD6-3F5B-BA54E433325A}"/>
              </a:ext>
            </a:extLst>
          </p:cNvPr>
          <p:cNvSpPr txBox="1"/>
          <p:nvPr/>
        </p:nvSpPr>
        <p:spPr>
          <a:xfrm>
            <a:off x="6509084" y="5897880"/>
            <a:ext cx="44026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dirty="0"/>
              <a:t>Judit Giravent</a:t>
            </a:r>
          </a:p>
          <a:p>
            <a:pPr latinLnBrk="1"/>
            <a:r>
              <a:rPr lang="es-ES" dirty="0"/>
              <a:t>Business </a:t>
            </a:r>
            <a:r>
              <a:rPr lang="es-ES" dirty="0" err="1"/>
              <a:t>Analytics</a:t>
            </a:r>
            <a:r>
              <a:rPr lang="es-ES" dirty="0"/>
              <a:t> Student | Odisea Data</a:t>
            </a:r>
          </a:p>
          <a:p>
            <a:pPr latinLnBrk="1"/>
            <a:r>
              <a:rPr lang="es-ES" dirty="0"/>
              <a:t>Septiembre 2026</a:t>
            </a:r>
          </a:p>
          <a:p>
            <a:endParaRPr lang="es-ES" dirty="0"/>
          </a:p>
        </p:txBody>
      </p:sp>
      <p:pic>
        <p:nvPicPr>
          <p:cNvPr id="5" name="ttsmaker-file-2026-9-17-11-59-43">
            <a:hlinkClick r:id="" action="ppaction://media"/>
            <a:extLst>
              <a:ext uri="{FF2B5EF4-FFF2-40B4-BE49-F238E27FC236}">
                <a16:creationId xmlns:a16="http://schemas.microsoft.com/office/drawing/2014/main" id="{40FD4FAE-52B9-5D3A-EA66-D2D4C3E3B6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424401" y="503181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1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0" dirty="0"/>
              <a:t>🎯 El reto</a:t>
            </a:r>
            <a:br>
              <a:rPr lang="es-ES" b="0" dirty="0"/>
            </a:br>
            <a:r>
              <a:rPr lang="es-ES" dirty="0"/>
              <a:t> 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2433186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dirty="0"/>
              <a:t>• Extraer datos de múltiples fuentes heterogéneas</a:t>
            </a:r>
          </a:p>
          <a:p>
            <a:pPr latinLnBrk="1"/>
            <a:r>
              <a:rPr lang="es-ES" dirty="0"/>
              <a:t>• Aplicar transformaciones avanzadas</a:t>
            </a:r>
          </a:p>
          <a:p>
            <a:pPr latinLnBrk="1"/>
            <a:r>
              <a:rPr lang="es-ES" dirty="0"/>
              <a:t>• Cargar en un destino estratégico</a:t>
            </a:r>
          </a:p>
          <a:p>
            <a:pPr latinLnBrk="1"/>
            <a:r>
              <a:rPr lang="es-ES" dirty="0"/>
              <a:t>• Automatizar y optimizar el flujo</a:t>
            </a:r>
          </a:p>
          <a:p>
            <a:pPr latinLnBrk="1"/>
            <a:r>
              <a:rPr lang="es-ES" dirty="0"/>
              <a:t>• Usar herramientas ETL avanzadas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854133-4158-A608-8DCD-905E892EA277}"/>
              </a:ext>
            </a:extLst>
          </p:cNvPr>
          <p:cNvSpPr txBox="1"/>
          <p:nvPr/>
        </p:nvSpPr>
        <p:spPr>
          <a:xfrm>
            <a:off x="1082842" y="5101389"/>
            <a:ext cx="3575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/>
              <a:t>"El Muelle de los Flujos Infinitos"</a:t>
            </a:r>
          </a:p>
          <a:p>
            <a:pPr latinLnBrk="1"/>
            <a:r>
              <a:rPr lang="es-ES"/>
              <a:t>— Odisea Data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E63BF2-70A7-B24D-C045-B2FB73D0F517}"/>
              </a:ext>
            </a:extLst>
          </p:cNvPr>
          <p:cNvSpPr txBox="1"/>
          <p:nvPr/>
        </p:nvSpPr>
        <p:spPr>
          <a:xfrm>
            <a:off x="7170821" y="32364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7D46A6A-0508-7A85-9C34-6A0E1C512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686" y="2457234"/>
            <a:ext cx="4945159" cy="4328248"/>
          </a:xfrm>
          <a:prstGeom prst="rect">
            <a:avLst/>
          </a:prstGeom>
        </p:spPr>
      </p:pic>
      <p:pic>
        <p:nvPicPr>
          <p:cNvPr id="9" name="ttsmaker-file-2026-9-17-12-0-57">
            <a:hlinkClick r:id="" action="ppaction://media"/>
            <a:extLst>
              <a:ext uri="{FF2B5EF4-FFF2-40B4-BE49-F238E27FC236}">
                <a16:creationId xmlns:a16="http://schemas.microsoft.com/office/drawing/2014/main" id="{ACECEC63-854A-C5E8-A083-12F324C6E2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67246" y="574772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42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35" y="390545"/>
            <a:ext cx="10130750" cy="62010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atinLnBrk="1"/>
            <a:r>
              <a:rPr lang="es-ES" sz="2800" b="0" dirty="0"/>
              <a:t>🔧 Elección de la herramienta ETL</a:t>
            </a:r>
          </a:p>
        </p:txBody>
      </p:sp>
      <p:pic>
        <p:nvPicPr>
          <p:cNvPr id="10" name="Marcador de posición de imagen 9" descr="Una persona que sonriendo ante un ordenador">
            <a:extLst>
              <a:ext uri="{FF2B5EF4-FFF2-40B4-BE49-F238E27FC236}">
                <a16:creationId xmlns:a16="http://schemas.microsoft.com/office/drawing/2014/main" id="{0E7DFFA9-9901-3CE7-AAC2-C1754C65B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/>
          <a:srcRect l="18" r="18"/>
          <a:stretch/>
        </p:blipFill>
        <p:spPr>
          <a:xfrm>
            <a:off x="7625969" y="-9144"/>
            <a:ext cx="4581525" cy="6602413"/>
          </a:xfr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B0E5369-3E32-94F1-C7E8-C8E0C2FD6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44082"/>
              </p:ext>
            </p:extLst>
          </p:nvPr>
        </p:nvGraphicFramePr>
        <p:xfrm>
          <a:off x="503320" y="1810031"/>
          <a:ext cx="6615363" cy="184182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509330">
                  <a:extLst>
                    <a:ext uri="{9D8B030D-6E8A-4147-A177-3AD203B41FA5}">
                      <a16:colId xmlns:a16="http://schemas.microsoft.com/office/drawing/2014/main" val="1647979994"/>
                    </a:ext>
                  </a:extLst>
                </a:gridCol>
                <a:gridCol w="1702011">
                  <a:extLst>
                    <a:ext uri="{9D8B030D-6E8A-4147-A177-3AD203B41FA5}">
                      <a16:colId xmlns:a16="http://schemas.microsoft.com/office/drawing/2014/main" val="3019514689"/>
                    </a:ext>
                  </a:extLst>
                </a:gridCol>
                <a:gridCol w="1702011">
                  <a:extLst>
                    <a:ext uri="{9D8B030D-6E8A-4147-A177-3AD203B41FA5}">
                      <a16:colId xmlns:a16="http://schemas.microsoft.com/office/drawing/2014/main" val="4277915645"/>
                    </a:ext>
                  </a:extLst>
                </a:gridCol>
                <a:gridCol w="1702011">
                  <a:extLst>
                    <a:ext uri="{9D8B030D-6E8A-4147-A177-3AD203B41FA5}">
                      <a16:colId xmlns:a16="http://schemas.microsoft.com/office/drawing/2014/main" val="2392796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Herramienta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Coste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UI Visual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Decisión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495493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Apache NiFi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✅ Open Source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✅ Muy potente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✅ Elegida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408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Airbyte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⚠️ Licencia ELv2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✅ Buena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❌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52238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Mage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❌ $100/mes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✅ Buena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❌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08585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CloudQuery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✅ Open Source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❌ CLI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❌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6024577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9D62EC58-79B5-F746-EF0E-18B50187CBE1}"/>
              </a:ext>
            </a:extLst>
          </p:cNvPr>
          <p:cNvSpPr txBox="1"/>
          <p:nvPr/>
        </p:nvSpPr>
        <p:spPr>
          <a:xfrm>
            <a:off x="397042" y="4036595"/>
            <a:ext cx="5437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Apache </a:t>
            </a:r>
            <a:r>
              <a:rPr lang="es-ES" dirty="0" err="1"/>
              <a:t>NiFi</a:t>
            </a:r>
            <a:r>
              <a:rPr lang="es-ES" dirty="0"/>
              <a:t>: 100% gratuito, visual y automatizable</a:t>
            </a:r>
          </a:p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BAF6461-9803-EC77-8185-1E9725CC5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0171" y="4402691"/>
            <a:ext cx="1920406" cy="1493649"/>
          </a:xfrm>
          <a:prstGeom prst="rect">
            <a:avLst/>
          </a:prstGeom>
        </p:spPr>
      </p:pic>
      <p:pic>
        <p:nvPicPr>
          <p:cNvPr id="9" name="ttsmaker-file-2026-9-17-12-10-47">
            <a:hlinkClick r:id="" action="ppaction://media"/>
            <a:extLst>
              <a:ext uri="{FF2B5EF4-FFF2-40B4-BE49-F238E27FC236}">
                <a16:creationId xmlns:a16="http://schemas.microsoft.com/office/drawing/2014/main" id="{53176FA4-5081-317B-6EFC-FC1A815917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544720" y="543905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9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05" y="176784"/>
            <a:ext cx="6395747" cy="65339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atinLnBrk="1"/>
            <a:r>
              <a:rPr lang="es-ES" sz="2800" b="0" dirty="0"/>
              <a:t>📊 3 fuentes heterogéneas</a:t>
            </a:r>
          </a:p>
        </p:txBody>
      </p:sp>
      <p:pic>
        <p:nvPicPr>
          <p:cNvPr id="12" name="Marcador de posición de imagen 11" descr="Una persona con una camisa amarilla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/>
          <a:srcRect l="33" r="33"/>
          <a:stretch/>
        </p:blipFill>
        <p:spPr>
          <a:xfrm>
            <a:off x="-15240" y="-15240"/>
            <a:ext cx="4581525" cy="6602413"/>
          </a:xfr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B63ED82-A35C-8517-61C8-92CE7E41A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1846"/>
              </p:ext>
            </p:extLst>
          </p:nvPr>
        </p:nvGraphicFramePr>
        <p:xfrm>
          <a:off x="5637196" y="1616240"/>
          <a:ext cx="5730240" cy="1812419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0080">
                  <a:extLst>
                    <a:ext uri="{9D8B030D-6E8A-4147-A177-3AD203B41FA5}">
                      <a16:colId xmlns:a16="http://schemas.microsoft.com/office/drawing/2014/main" val="793704335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086298340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2094246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📄 CSV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🌐 API REST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🗄️ SQLite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355051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Ventas Retail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CoinGecko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Clientes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94800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10.000 filas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4 criptos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2.000 filas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89872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Kaggle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USD + EUR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Python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61358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975">
                          <a:effectLst/>
                        </a:rPr>
                        <a:t>OnlineRetail_10k.csv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975">
                          <a:effectLst/>
                        </a:rPr>
                        <a:t>cripto_precios.json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975" dirty="0" err="1">
                          <a:effectLst/>
                        </a:rPr>
                        <a:t>clientes.db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43785756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D9B8E72C-42A9-0DAD-8A20-E8675A332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6620" y="3725785"/>
            <a:ext cx="2623847" cy="153402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16F4815-C54C-E955-7BB6-689018253B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3120" y="4484770"/>
            <a:ext cx="2543640" cy="169043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4968052-FB76-57E7-6626-B56657CE6F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334" y="3625520"/>
            <a:ext cx="2307126" cy="1616240"/>
          </a:xfrm>
          <a:prstGeom prst="rect">
            <a:avLst/>
          </a:prstGeom>
        </p:spPr>
      </p:pic>
      <p:pic>
        <p:nvPicPr>
          <p:cNvPr id="14" name="ttsmaker-file-2026-9-17-12-15-52">
            <a:hlinkClick r:id="" action="ppaction://media"/>
            <a:extLst>
              <a:ext uri="{FF2B5EF4-FFF2-40B4-BE49-F238E27FC236}">
                <a16:creationId xmlns:a16="http://schemas.microsoft.com/office/drawing/2014/main" id="{69B6ED62-7831-1796-C819-DF8A3E1AD3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11021" y="547382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6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b="0" dirty="0"/>
              <a:t>Arquitectura del pipeline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700639"/>
          </a:xfrm>
        </p:spPr>
        <p:txBody>
          <a:bodyPr rtlCol="0">
            <a:normAutofit fontScale="92500"/>
          </a:bodyPr>
          <a:lstStyle>
            <a:defPPr>
              <a:defRPr lang="es-ES"/>
            </a:defPPr>
          </a:lstStyle>
          <a:p>
            <a:pPr lvl="0"/>
            <a:r>
              <a:rPr lang="es-ES" dirty="0"/>
              <a:t>Diagrama de bloques con las 3 ramas en paralelo que convergen en </a:t>
            </a:r>
            <a:r>
              <a:rPr lang="es-ES" dirty="0" err="1"/>
              <a:t>MergeContent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B09566-BB74-7781-BC0E-581D0173B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776" y="2514600"/>
            <a:ext cx="7381819" cy="41945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D5EC3C5-5425-D771-7C58-0A3784120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721" y="3105052"/>
            <a:ext cx="2758679" cy="2248095"/>
          </a:xfrm>
          <a:prstGeom prst="rect">
            <a:avLst/>
          </a:prstGeom>
        </p:spPr>
      </p:pic>
      <p:pic>
        <p:nvPicPr>
          <p:cNvPr id="9" name="ttsmaker-file-2026-9-17-12-16-41">
            <a:hlinkClick r:id="" action="ppaction://media"/>
            <a:extLst>
              <a:ext uri="{FF2B5EF4-FFF2-40B4-BE49-F238E27FC236}">
                <a16:creationId xmlns:a16="http://schemas.microsoft.com/office/drawing/2014/main" id="{C94CBCAA-01D5-A314-1749-2057D9D416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002694" y="558628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54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627" y="441961"/>
            <a:ext cx="8614104" cy="827372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b="0" dirty="0"/>
              <a:t>📄 Rama CSV — Ventas </a:t>
            </a:r>
            <a:r>
              <a:rPr lang="es-ES" b="0" dirty="0" err="1"/>
              <a:t>Retail</a:t>
            </a:r>
            <a:endParaRPr lang="es-ES" b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64405" y="1391365"/>
            <a:ext cx="7798064" cy="140597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atinLnBrk="1"/>
            <a:r>
              <a:rPr lang="es-ES" sz="1800" dirty="0" err="1"/>
              <a:t>GetFile</a:t>
            </a:r>
            <a:r>
              <a:rPr lang="es-ES" sz="1800" dirty="0"/>
              <a:t> → lee OnlineRetail_10k.csv</a:t>
            </a:r>
          </a:p>
          <a:p>
            <a:pPr latinLnBrk="1"/>
            <a:r>
              <a:rPr lang="es-ES" sz="1800" dirty="0"/>
              <a:t>• </a:t>
            </a:r>
            <a:r>
              <a:rPr lang="es-ES" sz="1800" dirty="0" err="1"/>
              <a:t>ConvertRecord</a:t>
            </a:r>
            <a:r>
              <a:rPr lang="es-ES" sz="1800" dirty="0"/>
              <a:t> → CSV a JSON</a:t>
            </a:r>
          </a:p>
          <a:p>
            <a:pPr latinLnBrk="1"/>
            <a:r>
              <a:rPr lang="es-ES" sz="1800" dirty="0"/>
              <a:t>• </a:t>
            </a:r>
            <a:r>
              <a:rPr lang="es-ES" sz="1800" dirty="0" err="1"/>
              <a:t>PutFile</a:t>
            </a:r>
            <a:r>
              <a:rPr lang="es-ES" sz="1800" dirty="0"/>
              <a:t> → guarda en data/</a:t>
            </a:r>
            <a:r>
              <a:rPr lang="es-ES" sz="1800" dirty="0" err="1"/>
              <a:t>processed</a:t>
            </a:r>
            <a:r>
              <a:rPr lang="es-ES" sz="1800" dirty="0"/>
              <a:t>/ventas/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72AF44-3AF0-3DED-4608-E907C225112B}"/>
              </a:ext>
            </a:extLst>
          </p:cNvPr>
          <p:cNvSpPr txBox="1"/>
          <p:nvPr/>
        </p:nvSpPr>
        <p:spPr>
          <a:xfrm>
            <a:off x="7654321" y="2797341"/>
            <a:ext cx="41730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📊 </a:t>
            </a:r>
            <a:r>
              <a:rPr lang="es-ES" sz="2400" dirty="0"/>
              <a:t>10.000 registros | 9,15 MB</a:t>
            </a:r>
          </a:p>
          <a:p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8E3A26-48F3-8B3F-7AF6-F6D978BD1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4022" y="2797341"/>
            <a:ext cx="5595445" cy="3706628"/>
          </a:xfrm>
          <a:prstGeom prst="rect">
            <a:avLst/>
          </a:prstGeom>
        </p:spPr>
      </p:pic>
      <p:pic>
        <p:nvPicPr>
          <p:cNvPr id="7" name="ttsmaker-file-2026-9-17-12-23-33">
            <a:hlinkClick r:id="" action="ppaction://media"/>
            <a:extLst>
              <a:ext uri="{FF2B5EF4-FFF2-40B4-BE49-F238E27FC236}">
                <a16:creationId xmlns:a16="http://schemas.microsoft.com/office/drawing/2014/main" id="{7C446206-5879-ED6D-3908-1239568EB7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423525" y="568107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b="0" dirty="0"/>
              <a:t>🌐 Rama API — Precios de Criptomonedas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678095" cy="368776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atinLnBrk="1"/>
            <a:r>
              <a:rPr lang="es-ES" sz="1400" dirty="0"/>
              <a:t>• </a:t>
            </a:r>
            <a:r>
              <a:rPr lang="es-ES" sz="1400" dirty="0" err="1"/>
              <a:t>GetFile</a:t>
            </a:r>
            <a:r>
              <a:rPr lang="es-ES" sz="1400" dirty="0"/>
              <a:t> → lee </a:t>
            </a:r>
            <a:r>
              <a:rPr lang="es-ES" sz="1400" dirty="0" err="1"/>
              <a:t>cripto_precios.json</a:t>
            </a:r>
            <a:endParaRPr lang="es-ES" sz="1400" dirty="0"/>
          </a:p>
          <a:p>
            <a:pPr latinLnBrk="1"/>
            <a:r>
              <a:rPr lang="es-ES" sz="1400" dirty="0"/>
              <a:t>• </a:t>
            </a:r>
            <a:r>
              <a:rPr lang="es-ES" sz="1400" dirty="0" err="1"/>
              <a:t>EvaluateJsonPath</a:t>
            </a:r>
            <a:r>
              <a:rPr lang="es-ES" sz="1400" dirty="0"/>
              <a:t> → extrae 6 valores</a:t>
            </a:r>
          </a:p>
          <a:p>
            <a:pPr latinLnBrk="1"/>
            <a:r>
              <a:rPr lang="es-ES" sz="1400" dirty="0"/>
              <a:t>• </a:t>
            </a:r>
            <a:r>
              <a:rPr lang="es-ES" sz="1400" dirty="0" err="1"/>
              <a:t>AttributesToJSON</a:t>
            </a:r>
            <a:r>
              <a:rPr lang="es-ES" sz="1400" dirty="0"/>
              <a:t> → genera JSON limpio</a:t>
            </a:r>
          </a:p>
          <a:p>
            <a:pPr latinLnBrk="1"/>
            <a:r>
              <a:rPr lang="es-ES" sz="1400" dirty="0"/>
              <a:t>• </a:t>
            </a:r>
            <a:r>
              <a:rPr lang="es-ES" sz="1400" dirty="0" err="1"/>
              <a:t>PutFile</a:t>
            </a:r>
            <a:r>
              <a:rPr lang="es-ES" sz="1400" dirty="0"/>
              <a:t> → guarda en data/</a:t>
            </a:r>
            <a:r>
              <a:rPr lang="es-ES" sz="1400" dirty="0" err="1"/>
              <a:t>processed</a:t>
            </a:r>
            <a:r>
              <a:rPr lang="es-ES" sz="1400" dirty="0"/>
              <a:t>/api/</a:t>
            </a:r>
          </a:p>
          <a:p>
            <a:pPr latinLnBrk="1"/>
            <a:endParaRPr lang="es-ES" sz="1400" dirty="0"/>
          </a:p>
          <a:p>
            <a:pPr latinLnBrk="1"/>
            <a:r>
              <a:rPr lang="es-ES" b="1" dirty="0"/>
              <a:t>⚠️ Nota destacada:</a:t>
            </a:r>
          </a:p>
          <a:p>
            <a:pPr latinLnBrk="1"/>
            <a:r>
              <a:rPr lang="es-ES" sz="1500" dirty="0"/>
              <a:t>⚠️ </a:t>
            </a:r>
            <a:r>
              <a:rPr lang="es-ES" sz="1500" dirty="0" err="1"/>
              <a:t>CoinGecko</a:t>
            </a:r>
            <a:r>
              <a:rPr lang="es-ES" sz="1500" dirty="0"/>
              <a:t> devolvía 403 por </a:t>
            </a:r>
            <a:r>
              <a:rPr lang="es-ES" sz="1500" dirty="0" err="1"/>
              <a:t>User</a:t>
            </a:r>
            <a:r>
              <a:rPr lang="es-ES" sz="1500" dirty="0"/>
              <a:t>-Agent</a:t>
            </a:r>
          </a:p>
          <a:p>
            <a:pPr latinLnBrk="1"/>
            <a:r>
              <a:rPr lang="es-ES" sz="1500" dirty="0"/>
              <a:t>   → Solución: descarga previa con PowerShell</a:t>
            </a:r>
          </a:p>
          <a:p>
            <a:pPr latinLnBrk="1"/>
            <a:endParaRPr lang="es-ES" dirty="0"/>
          </a:p>
          <a:p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7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9C3F976-BFE0-FDE6-1D38-46F8D5B14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924" y="1587691"/>
            <a:ext cx="3632440" cy="254467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32D737B-24FE-A329-EFB5-23DEC66B9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793" y="1791928"/>
            <a:ext cx="3004660" cy="4680884"/>
          </a:xfrm>
          <a:prstGeom prst="rect">
            <a:avLst/>
          </a:prstGeom>
        </p:spPr>
      </p:pic>
      <p:pic>
        <p:nvPicPr>
          <p:cNvPr id="12" name="ttsmaker-file-2026-9-17-12-36-37">
            <a:hlinkClick r:id="" action="ppaction://media"/>
            <a:extLst>
              <a:ext uri="{FF2B5EF4-FFF2-40B4-BE49-F238E27FC236}">
                <a16:creationId xmlns:a16="http://schemas.microsoft.com/office/drawing/2014/main" id="{24F03959-0AFC-D3B7-A4B9-ECCC57501E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745447" y="538630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91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130640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b="0" dirty="0"/>
              <a:t>🗄️ Rama SQLite — Clientes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97CD95-A6D1-C7C3-F7D9-C0AB6438B2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5651416" cy="2372393"/>
          </a:xfrm>
        </p:spPr>
        <p:txBody>
          <a:bodyPr rtlCol="0"/>
          <a:lstStyle>
            <a:defPPr>
              <a:defRPr lang="es-ES"/>
            </a:defPPr>
          </a:lstStyle>
          <a:p>
            <a:pPr marL="0" indent="0" latinLnBrk="1">
              <a:buNone/>
            </a:pPr>
            <a:r>
              <a:rPr lang="es-ES" dirty="0"/>
              <a:t>• </a:t>
            </a:r>
            <a:r>
              <a:rPr lang="es-ES" dirty="0" err="1"/>
              <a:t>GenerateFlowFile</a:t>
            </a:r>
            <a:r>
              <a:rPr lang="es-ES" dirty="0"/>
              <a:t> → disparador</a:t>
            </a:r>
          </a:p>
          <a:p>
            <a:pPr marL="0" indent="0" latinLnBrk="1">
              <a:buNone/>
            </a:pPr>
            <a:r>
              <a:rPr lang="es-ES" dirty="0"/>
              <a:t>• </a:t>
            </a:r>
            <a:r>
              <a:rPr lang="es-ES" dirty="0" err="1"/>
              <a:t>ExecuteSQLRecord</a:t>
            </a:r>
            <a:r>
              <a:rPr lang="es-ES" dirty="0"/>
              <a:t> → SELECT * FROM clientes</a:t>
            </a:r>
          </a:p>
          <a:p>
            <a:pPr marL="0" indent="0" latinLnBrk="1">
              <a:buNone/>
            </a:pPr>
            <a:r>
              <a:rPr lang="es-ES" dirty="0"/>
              <a:t>• </a:t>
            </a:r>
            <a:r>
              <a:rPr lang="es-ES" dirty="0" err="1"/>
              <a:t>PutFile</a:t>
            </a:r>
            <a:r>
              <a:rPr lang="es-ES" dirty="0"/>
              <a:t> → guarda en data/</a:t>
            </a:r>
            <a:r>
              <a:rPr lang="es-ES" dirty="0" err="1"/>
              <a:t>processed</a:t>
            </a:r>
            <a:r>
              <a:rPr lang="es-ES" dirty="0"/>
              <a:t>/clientes/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775FD7C-DA7F-83C7-0640-B6D0CBB9D289}"/>
              </a:ext>
            </a:extLst>
          </p:cNvPr>
          <p:cNvSpPr txBox="1"/>
          <p:nvPr/>
        </p:nvSpPr>
        <p:spPr>
          <a:xfrm>
            <a:off x="1750595" y="4565984"/>
            <a:ext cx="3018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📊 2.000 registros | 438 KB</a:t>
            </a:r>
          </a:p>
          <a:p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8A694F9-5BC0-464E-66A0-E0F13282A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646" y="721894"/>
            <a:ext cx="3457902" cy="229803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4227DFA-6465-219E-5EC0-65A5749056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7283" y="1624264"/>
            <a:ext cx="2701606" cy="4890837"/>
          </a:xfrm>
          <a:prstGeom prst="rect">
            <a:avLst/>
          </a:prstGeom>
        </p:spPr>
      </p:pic>
      <p:pic>
        <p:nvPicPr>
          <p:cNvPr id="17" name="ttsmaker-file-2026-9-17-12-42-4">
            <a:hlinkClick r:id="" action="ppaction://media"/>
            <a:extLst>
              <a:ext uri="{FF2B5EF4-FFF2-40B4-BE49-F238E27FC236}">
                <a16:creationId xmlns:a16="http://schemas.microsoft.com/office/drawing/2014/main" id="{0A7F2DA2-76A2-5C50-4FE6-F77F9EE0BE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055562" y="547997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9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59" y="137160"/>
            <a:ext cx="7252235" cy="1249680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b="0" dirty="0"/>
              <a:t>🔗 Unión final con </a:t>
            </a:r>
            <a:r>
              <a:rPr lang="es-ES" b="0" dirty="0" err="1"/>
              <a:t>MergeContent</a:t>
            </a:r>
            <a:endParaRPr lang="es-ES" b="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59" y="2087880"/>
            <a:ext cx="10535113" cy="195469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atinLnBrk="1"/>
            <a:r>
              <a:rPr lang="es-ES" dirty="0"/>
              <a:t>• 3 </a:t>
            </a:r>
            <a:r>
              <a:rPr lang="es-ES" dirty="0" err="1"/>
              <a:t>UpdateAttribute</a:t>
            </a:r>
            <a:r>
              <a:rPr lang="es-ES" dirty="0"/>
              <a:t> → marcan con </a:t>
            </a:r>
            <a:r>
              <a:rPr lang="es-ES" dirty="0" err="1"/>
              <a:t>unir_dataset</a:t>
            </a:r>
            <a:r>
              <a:rPr lang="es-ES" dirty="0"/>
              <a:t>=final</a:t>
            </a:r>
          </a:p>
          <a:p>
            <a:pPr latinLnBrk="1"/>
            <a:r>
              <a:rPr lang="es-ES" dirty="0"/>
              <a:t>• </a:t>
            </a:r>
            <a:r>
              <a:rPr lang="es-ES" dirty="0" err="1"/>
              <a:t>MergeContent</a:t>
            </a:r>
            <a:r>
              <a:rPr lang="es-ES" dirty="0"/>
              <a:t> → une los 3 </a:t>
            </a:r>
            <a:r>
              <a:rPr lang="es-ES" dirty="0" err="1"/>
              <a:t>JSONs</a:t>
            </a:r>
            <a:r>
              <a:rPr lang="es-ES" dirty="0"/>
              <a:t> (</a:t>
            </a:r>
            <a:r>
              <a:rPr lang="es-ES" dirty="0" err="1"/>
              <a:t>Bin-Packing</a:t>
            </a:r>
            <a:r>
              <a:rPr lang="es-ES" dirty="0"/>
              <a:t>)</a:t>
            </a:r>
          </a:p>
          <a:p>
            <a:pPr latinLnBrk="1"/>
            <a:r>
              <a:rPr lang="es-ES" dirty="0"/>
              <a:t>• </a:t>
            </a:r>
            <a:r>
              <a:rPr lang="es-ES" dirty="0" err="1"/>
              <a:t>UpdateAttribute</a:t>
            </a:r>
            <a:r>
              <a:rPr lang="es-ES" dirty="0"/>
              <a:t> → renombra a </a:t>
            </a:r>
            <a:r>
              <a:rPr lang="es-ES" dirty="0" err="1"/>
              <a:t>dataset_final.json</a:t>
            </a:r>
            <a:endParaRPr lang="es-ES" dirty="0"/>
          </a:p>
          <a:p>
            <a:pPr latinLnBrk="1"/>
            <a:r>
              <a:rPr lang="es-ES" dirty="0"/>
              <a:t>• </a:t>
            </a:r>
            <a:r>
              <a:rPr lang="es-ES" dirty="0" err="1"/>
              <a:t>PutFile</a:t>
            </a:r>
            <a:r>
              <a:rPr lang="es-ES" dirty="0"/>
              <a:t> → guarda en data/final/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335FA4-10CC-156A-5358-E185F753609A}"/>
              </a:ext>
            </a:extLst>
          </p:cNvPr>
          <p:cNvSpPr txBox="1"/>
          <p:nvPr/>
        </p:nvSpPr>
        <p:spPr>
          <a:xfrm>
            <a:off x="1365584" y="4265195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Configuración clave :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E94ADCD-37F4-7BC6-DA8F-6614CE07DE0C}"/>
              </a:ext>
            </a:extLst>
          </p:cNvPr>
          <p:cNvSpPr txBox="1"/>
          <p:nvPr/>
        </p:nvSpPr>
        <p:spPr>
          <a:xfrm>
            <a:off x="1505712" y="4743612"/>
            <a:ext cx="41665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dirty="0" err="1"/>
              <a:t>Minimum</a:t>
            </a:r>
            <a:r>
              <a:rPr lang="es-ES" dirty="0"/>
              <a:t> </a:t>
            </a:r>
            <a:r>
              <a:rPr lang="es-ES" dirty="0" err="1"/>
              <a:t>Entries</a:t>
            </a:r>
            <a:r>
              <a:rPr lang="es-ES" dirty="0"/>
              <a:t> = 3</a:t>
            </a:r>
          </a:p>
          <a:p>
            <a:pPr latinLnBrk="1"/>
            <a:r>
              <a:rPr lang="es-ES" dirty="0"/>
              <a:t>Maximum </a:t>
            </a:r>
            <a:r>
              <a:rPr lang="es-ES" dirty="0" err="1"/>
              <a:t>Entries</a:t>
            </a:r>
            <a:r>
              <a:rPr lang="es-ES" dirty="0"/>
              <a:t> = 3</a:t>
            </a:r>
          </a:p>
          <a:p>
            <a:pPr latinLnBrk="1"/>
            <a:r>
              <a:rPr lang="es-ES" dirty="0" err="1"/>
              <a:t>Merge</a:t>
            </a:r>
            <a:r>
              <a:rPr lang="es-ES" dirty="0"/>
              <a:t> </a:t>
            </a:r>
            <a:r>
              <a:rPr lang="es-ES" dirty="0" err="1"/>
              <a:t>Format</a:t>
            </a:r>
            <a:r>
              <a:rPr lang="es-ES" dirty="0"/>
              <a:t> = </a:t>
            </a:r>
            <a:r>
              <a:rPr lang="es-ES" dirty="0" err="1"/>
              <a:t>Binary</a:t>
            </a:r>
            <a:r>
              <a:rPr lang="es-ES" dirty="0"/>
              <a:t> </a:t>
            </a:r>
            <a:r>
              <a:rPr lang="es-ES" dirty="0" err="1"/>
              <a:t>Concatenation</a:t>
            </a:r>
            <a:endParaRPr lang="es-ES" dirty="0"/>
          </a:p>
          <a:p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5BCA448-5B13-7AEE-3F38-AEF80CC01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796" y="1419422"/>
            <a:ext cx="3751476" cy="213888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E7B7E9A-3182-F224-5001-161B9DB41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148" y="3739963"/>
            <a:ext cx="2966738" cy="2809268"/>
          </a:xfrm>
          <a:prstGeom prst="rect">
            <a:avLst/>
          </a:prstGeom>
        </p:spPr>
      </p:pic>
      <p:pic>
        <p:nvPicPr>
          <p:cNvPr id="14" name="ttsmaker-file-2026-9-17-12-58-56">
            <a:hlinkClick r:id="" action="ppaction://media"/>
            <a:extLst>
              <a:ext uri="{FF2B5EF4-FFF2-40B4-BE49-F238E27FC236}">
                <a16:creationId xmlns:a16="http://schemas.microsoft.com/office/drawing/2014/main" id="{030C8FA5-F2C3-D492-1553-04E440D27C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184874" y="560791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7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b="0" dirty="0"/>
              <a:t>✅ Resultado final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1FD557-D53B-0844-8823-CB2387248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59" y="2026920"/>
            <a:ext cx="3313917" cy="390175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atinLnBrk="1"/>
            <a:r>
              <a:rPr lang="es-ES" sz="1400" dirty="0"/>
              <a:t>📁 </a:t>
            </a:r>
            <a:r>
              <a:rPr lang="es-ES" sz="1400" dirty="0" err="1"/>
              <a:t>dataset_final.json</a:t>
            </a:r>
            <a:endParaRPr lang="es-ES" sz="1400" dirty="0"/>
          </a:p>
          <a:p>
            <a:pPr latinLnBrk="1"/>
            <a:r>
              <a:rPr lang="es-ES" sz="1400" dirty="0"/>
              <a:t>📏 2,3 MB</a:t>
            </a:r>
          </a:p>
          <a:p>
            <a:pPr latinLnBrk="1"/>
            <a:r>
              <a:rPr lang="es-ES" sz="1400" dirty="0"/>
              <a:t>📦 3 bloques unificados:</a:t>
            </a:r>
          </a:p>
          <a:p>
            <a:pPr latinLnBrk="1"/>
            <a:r>
              <a:rPr lang="es-ES" sz="1400" dirty="0"/>
              <a:t>   • 10.000 ventas</a:t>
            </a:r>
          </a:p>
          <a:p>
            <a:pPr latinLnBrk="1"/>
            <a:r>
              <a:rPr lang="es-ES" sz="1400" dirty="0"/>
              <a:t>   • 4 </a:t>
            </a:r>
            <a:r>
              <a:rPr lang="es-ES" sz="1400" dirty="0" err="1"/>
              <a:t>criptos</a:t>
            </a:r>
            <a:endParaRPr lang="es-ES" sz="1400" dirty="0"/>
          </a:p>
          <a:p>
            <a:pPr latinLnBrk="1"/>
            <a:r>
              <a:rPr lang="es-ES" sz="1400" dirty="0"/>
              <a:t>   • 2.000 clientes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F16816-A75B-6234-8D63-F1715FB1F72C}"/>
              </a:ext>
            </a:extLst>
          </p:cNvPr>
          <p:cNvSpPr txBox="1"/>
          <p:nvPr/>
        </p:nvSpPr>
        <p:spPr>
          <a:xfrm>
            <a:off x="1600199" y="4412516"/>
            <a:ext cx="200567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Snippet</a:t>
            </a:r>
            <a:r>
              <a:rPr lang="es-ES" dirty="0"/>
              <a:t> de JSON</a:t>
            </a:r>
          </a:p>
          <a:p>
            <a:endParaRPr lang="es-ES" dirty="0"/>
          </a:p>
          <a:p>
            <a:pPr latinLnBrk="1"/>
            <a:r>
              <a:rPr lang="es-ES" dirty="0"/>
              <a:t>[</a:t>
            </a:r>
          </a:p>
          <a:p>
            <a:pPr latinLnBrk="1"/>
            <a:r>
              <a:rPr lang="es-ES" dirty="0"/>
              <a:t>  [ {...ventas...} ],</a:t>
            </a:r>
          </a:p>
          <a:p>
            <a:pPr latinLnBrk="1"/>
            <a:r>
              <a:rPr lang="es-ES" dirty="0"/>
              <a:t>  { "bitcoin": {...} },</a:t>
            </a:r>
          </a:p>
          <a:p>
            <a:pPr latinLnBrk="1"/>
            <a:r>
              <a:rPr lang="es-ES" dirty="0"/>
              <a:t>  [ {...clientes...} ]</a:t>
            </a:r>
          </a:p>
          <a:p>
            <a:pPr latinLnBrk="1"/>
            <a:r>
              <a:rPr lang="es-ES" dirty="0"/>
              <a:t>]</a:t>
            </a:r>
          </a:p>
          <a:p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18C8AFD-8EE3-A8A8-D129-28CAF82C6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145" y="1497932"/>
            <a:ext cx="8348784" cy="4305610"/>
          </a:xfrm>
          <a:prstGeom prst="rect">
            <a:avLst/>
          </a:prstGeom>
        </p:spPr>
      </p:pic>
      <p:pic>
        <p:nvPicPr>
          <p:cNvPr id="13" name="ttsmaker-file-2026-9-17-13-0-26">
            <a:hlinkClick r:id="" action="ppaction://media"/>
            <a:extLst>
              <a:ext uri="{FF2B5EF4-FFF2-40B4-BE49-F238E27FC236}">
                <a16:creationId xmlns:a16="http://schemas.microsoft.com/office/drawing/2014/main" id="{BD1AC412-B6A5-B3B6-CA77-47B7270709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2318" y="575925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7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b="0" dirty="0"/>
              <a:t>⚠️ Problemas encontrados y soluciones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11</a:t>
            </a:fld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2B9DBEF-2A3A-1C48-842F-B0C8DFF50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105659"/>
              </p:ext>
            </p:extLst>
          </p:nvPr>
        </p:nvGraphicFramePr>
        <p:xfrm>
          <a:off x="1191528" y="2170729"/>
          <a:ext cx="5730240" cy="184182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832807144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826067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Problema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Solución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68904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CoinGecko 403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Descarga previa con PowerShell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97697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ExecuteSQLRecord no se ejecutaba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Añadir GenerateFlowFile disparador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97117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MergeContent sin propiedades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Usar Bin-Packing Algorithm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67265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PutFile con caracteres inválidos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Renombrar sin </a:t>
                      </a:r>
                      <a:r>
                        <a:rPr lang="es-ES" sz="975" dirty="0">
                          <a:effectLst/>
                        </a:rPr>
                        <a:t>: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9925401"/>
                  </a:ext>
                </a:extLst>
              </a:tr>
            </a:tbl>
          </a:graphicData>
        </a:graphic>
      </p:graphicFrame>
      <p:pic>
        <p:nvPicPr>
          <p:cNvPr id="14" name="Imagen 13">
            <a:extLst>
              <a:ext uri="{FF2B5EF4-FFF2-40B4-BE49-F238E27FC236}">
                <a16:creationId xmlns:a16="http://schemas.microsoft.com/office/drawing/2014/main" id="{A37186FC-8DBB-3386-F0C6-C712B9C65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893" y="4152193"/>
            <a:ext cx="7323455" cy="2415749"/>
          </a:xfrm>
          <a:prstGeom prst="rect">
            <a:avLst/>
          </a:prstGeom>
        </p:spPr>
      </p:pic>
      <p:pic>
        <p:nvPicPr>
          <p:cNvPr id="15" name="ttsmaker-file-2026-9-17-13-7-34">
            <a:hlinkClick r:id="" action="ppaction://media"/>
            <a:extLst>
              <a:ext uri="{FF2B5EF4-FFF2-40B4-BE49-F238E27FC236}">
                <a16:creationId xmlns:a16="http://schemas.microsoft.com/office/drawing/2014/main" id="{01AD4AC2-FEBD-D6E8-BCB4-9300EDBD44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46376" y="488590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52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9C5DD-6B55-DF45-4C6B-6B767B71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729216" cy="1326514"/>
          </a:xfrm>
        </p:spPr>
        <p:txBody>
          <a:bodyPr rtlCol="0"/>
          <a:lstStyle>
            <a:defPPr>
              <a:defRPr lang="es-ES"/>
            </a:defPPr>
          </a:lstStyle>
          <a:p>
            <a:pPr latinLnBrk="1"/>
            <a:r>
              <a:rPr lang="es-ES" b="0" dirty="0"/>
              <a:t>⚡ Consejos de mejora — Rendimiento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849FABB-E5A7-5275-61DB-17B427E9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12</a:t>
            </a:fld>
            <a:endParaRPr lang="es-ES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6CD57E8-9E2D-912C-024B-34FF0257D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034055"/>
              </p:ext>
            </p:extLst>
          </p:nvPr>
        </p:nvGraphicFramePr>
        <p:xfrm>
          <a:off x="1510364" y="2031609"/>
          <a:ext cx="6550794" cy="2738911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183598">
                  <a:extLst>
                    <a:ext uri="{9D8B030D-6E8A-4147-A177-3AD203B41FA5}">
                      <a16:colId xmlns:a16="http://schemas.microsoft.com/office/drawing/2014/main" val="378112426"/>
                    </a:ext>
                  </a:extLst>
                </a:gridCol>
                <a:gridCol w="2183598">
                  <a:extLst>
                    <a:ext uri="{9D8B030D-6E8A-4147-A177-3AD203B41FA5}">
                      <a16:colId xmlns:a16="http://schemas.microsoft.com/office/drawing/2014/main" val="1036014752"/>
                    </a:ext>
                  </a:extLst>
                </a:gridCol>
                <a:gridCol w="2183598">
                  <a:extLst>
                    <a:ext uri="{9D8B030D-6E8A-4147-A177-3AD203B41FA5}">
                      <a16:colId xmlns:a16="http://schemas.microsoft.com/office/drawing/2014/main" val="614153068"/>
                    </a:ext>
                  </a:extLst>
                </a:gridCol>
              </a:tblGrid>
              <a:tr h="83050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🚀 Paralelizar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📅 Schedule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📦 Lotes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26118779"/>
                  </a:ext>
                </a:extLst>
              </a:tr>
              <a:tr h="190840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 err="1">
                          <a:effectLst/>
                        </a:rPr>
                        <a:t>Concurrent</a:t>
                      </a:r>
                      <a:r>
                        <a:rPr lang="es-ES" sz="1125" dirty="0">
                          <a:effectLst/>
                        </a:rPr>
                        <a:t> </a:t>
                      </a:r>
                      <a:r>
                        <a:rPr lang="es-ES" sz="1125" dirty="0" err="1">
                          <a:effectLst/>
                        </a:rPr>
                        <a:t>Tasks</a:t>
                      </a:r>
                      <a:r>
                        <a:rPr lang="es-ES" sz="1125" dirty="0">
                          <a:effectLst/>
                        </a:rPr>
                        <a:t> = 4 en procesadores CPU-intensivos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Frecuencia según cambios de datos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 err="1">
                          <a:effectLst/>
                        </a:rPr>
                        <a:t>SplitRecord</a:t>
                      </a:r>
                      <a:r>
                        <a:rPr lang="es-ES" sz="1125" dirty="0">
                          <a:effectLst/>
                        </a:rPr>
                        <a:t> en bloques de 10.000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82464232"/>
                  </a:ext>
                </a:extLst>
              </a:tr>
            </a:tbl>
          </a:graphicData>
        </a:graphic>
      </p:graphicFrame>
      <p:pic>
        <p:nvPicPr>
          <p:cNvPr id="10" name="ttsmaker-file-2026-9-17-13-9-45">
            <a:hlinkClick r:id="" action="ppaction://media"/>
            <a:extLst>
              <a:ext uri="{FF2B5EF4-FFF2-40B4-BE49-F238E27FC236}">
                <a16:creationId xmlns:a16="http://schemas.microsoft.com/office/drawing/2014/main" id="{0F5ED27E-E59C-4319-2899-BB0CA67090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16409" y="4923088"/>
            <a:ext cx="487363" cy="48736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40FC838-2DA5-2C5D-FB1C-6D60EF9C4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943" y="3489158"/>
            <a:ext cx="2139420" cy="19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4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29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667C13E-D8FD-55DB-B442-564957C65C2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0AADDAE-734F-F853-050B-0D95CA1B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dirty="0"/>
              <a:t>🛡️ Consejos de mejora — Robustez</a:t>
            </a:r>
            <a:br>
              <a:rPr lang="es-ES" b="0" dirty="0"/>
            </a:b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744434-0A6D-2FB2-F2E1-730A29B3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13</a:t>
            </a:fld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F6938E-24CD-0DB2-CB7D-87756D8B291C}"/>
              </a:ext>
            </a:extLst>
          </p:cNvPr>
          <p:cNvSpPr txBox="1"/>
          <p:nvPr/>
        </p:nvSpPr>
        <p:spPr>
          <a:xfrm>
            <a:off x="1081338" y="2704787"/>
            <a:ext cx="6145128" cy="9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✅ Conectar TODAS las relaciones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failure</a:t>
            </a: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a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LogAttribute</a:t>
            </a: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✅ Añadir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ValidateRecord</a:t>
            </a: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antes de cada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PutFile</a:t>
            </a: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✅ Usar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DetectDuplicate</a:t>
            </a: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para evitar reprocesos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✅ Activar reintentos automáticos (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Retry</a:t>
            </a: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+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RetryFlowFile</a:t>
            </a: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es-ES" sz="975" b="0" dirty="0">
              <a:solidFill>
                <a:srgbClr val="0F1115"/>
              </a:solidFill>
              <a:effectLst/>
              <a:latin typeface="Menlo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96CDE6F-3F40-C296-5E23-83E6DCFD6F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861" y="2590158"/>
            <a:ext cx="1569856" cy="1409822"/>
          </a:xfrm>
          <a:prstGeom prst="rect">
            <a:avLst/>
          </a:prstGeom>
        </p:spPr>
      </p:pic>
      <p:pic>
        <p:nvPicPr>
          <p:cNvPr id="11" name="ttsmaker-file-2026-9-17-13-18-9">
            <a:hlinkClick r:id="" action="ppaction://media"/>
            <a:extLst>
              <a:ext uri="{FF2B5EF4-FFF2-40B4-BE49-F238E27FC236}">
                <a16:creationId xmlns:a16="http://schemas.microsoft.com/office/drawing/2014/main" id="{3BFD8026-AB38-F27A-DE6B-E01B1F4083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51814" y="502660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5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95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FF6B84F-D6EB-64E8-EF25-8E8A1D01F7E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8018"/>
            <a:ext cx="12192000" cy="6849981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995D13-A987-E3DC-A6F6-602B0B65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Mejoras (III): Mantenibilidad</a:t>
            </a:r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E8CBB7-9279-28CC-694C-2BFB35AF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14</a:t>
            </a:fld>
            <a:endParaRPr lang="es-ES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DF8A5AA-C14B-401C-62F0-CE37BB049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437298"/>
              </p:ext>
            </p:extLst>
          </p:nvPr>
        </p:nvGraphicFramePr>
        <p:xfrm>
          <a:off x="1509963" y="1588168"/>
          <a:ext cx="9137985" cy="3621505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045995">
                  <a:extLst>
                    <a:ext uri="{9D8B030D-6E8A-4147-A177-3AD203B41FA5}">
                      <a16:colId xmlns:a16="http://schemas.microsoft.com/office/drawing/2014/main" val="2002544379"/>
                    </a:ext>
                  </a:extLst>
                </a:gridCol>
                <a:gridCol w="3045995">
                  <a:extLst>
                    <a:ext uri="{9D8B030D-6E8A-4147-A177-3AD203B41FA5}">
                      <a16:colId xmlns:a16="http://schemas.microsoft.com/office/drawing/2014/main" val="729060431"/>
                    </a:ext>
                  </a:extLst>
                </a:gridCol>
                <a:gridCol w="3045995">
                  <a:extLst>
                    <a:ext uri="{9D8B030D-6E8A-4147-A177-3AD203B41FA5}">
                      <a16:colId xmlns:a16="http://schemas.microsoft.com/office/drawing/2014/main" val="683681996"/>
                    </a:ext>
                  </a:extLst>
                </a:gridCol>
              </a:tblGrid>
              <a:tr h="149459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2400" b="1" dirty="0">
                          <a:effectLst/>
                        </a:rPr>
                        <a:t>📚 </a:t>
                      </a:r>
                      <a:r>
                        <a:rPr lang="es-ES" sz="2400" b="1" dirty="0" err="1">
                          <a:effectLst/>
                        </a:rPr>
                        <a:t>NiFi</a:t>
                      </a:r>
                      <a:r>
                        <a:rPr lang="es-ES" sz="2400" b="1" dirty="0">
                          <a:effectLst/>
                        </a:rPr>
                        <a:t> </a:t>
                      </a:r>
                      <a:r>
                        <a:rPr lang="es-ES" sz="2400" b="1" dirty="0" err="1">
                          <a:effectLst/>
                        </a:rPr>
                        <a:t>Registry</a:t>
                      </a:r>
                      <a:endParaRPr lang="es-ES" sz="2400" b="1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2400" b="1" dirty="0">
                          <a:effectLst/>
                        </a:rPr>
                        <a:t>📋 Plantillas</a:t>
                      </a:r>
                      <a:endParaRPr lang="es-ES" sz="24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2400" b="1">
                          <a:effectLst/>
                        </a:rPr>
                        <a:t>📝 Documentación</a:t>
                      </a:r>
                      <a:endParaRPr lang="es-ES" sz="2400" b="1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469223532"/>
                  </a:ext>
                </a:extLst>
              </a:tr>
              <a:tr h="212690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2400" b="1">
                          <a:effectLst/>
                        </a:rPr>
                        <a:t>Versionar los flujos</a:t>
                      </a:r>
                      <a:endParaRPr lang="es-ES" sz="24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2400" b="1" dirty="0">
                          <a:effectLst/>
                        </a:rPr>
                        <a:t>Crear plantillas reutilizables</a:t>
                      </a:r>
                      <a:endParaRPr lang="es-ES" sz="24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2400" b="1" dirty="0">
                          <a:effectLst/>
                        </a:rPr>
                        <a:t>Comentarios + </a:t>
                      </a:r>
                      <a:r>
                        <a:rPr lang="es-ES" sz="2400" b="1" dirty="0" err="1">
                          <a:effectLst/>
                        </a:rPr>
                        <a:t>nifi-toolkit</a:t>
                      </a:r>
                      <a:endParaRPr lang="es-ES" sz="2400" b="1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04949172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65B6CF78-CE4E-07B4-F7D3-74A7AEC09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453" y="4836800"/>
            <a:ext cx="1653683" cy="1409822"/>
          </a:xfrm>
          <a:prstGeom prst="rect">
            <a:avLst/>
          </a:prstGeom>
        </p:spPr>
      </p:pic>
      <p:pic>
        <p:nvPicPr>
          <p:cNvPr id="13" name="ttsmaker-file-2026-9-17-13-24-12">
            <a:hlinkClick r:id="" action="ppaction://media"/>
            <a:extLst>
              <a:ext uri="{FF2B5EF4-FFF2-40B4-BE49-F238E27FC236}">
                <a16:creationId xmlns:a16="http://schemas.microsoft.com/office/drawing/2014/main" id="{014C0F4A-F4B2-844C-D06E-969370D3B0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46376" y="547845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6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34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A75EEDF-19E9-7189-C6BA-23DA97CECFB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-462182"/>
            <a:ext cx="12192000" cy="7312048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A970C20-2BF4-A974-5176-BD182ED1AC78}"/>
              </a:ext>
            </a:extLst>
          </p:cNvPr>
          <p:cNvSpPr txBox="1"/>
          <p:nvPr/>
        </p:nvSpPr>
        <p:spPr>
          <a:xfrm>
            <a:off x="0" y="5989254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>
                <a:hlinkClick r:id="rId5" tooltip="https://academy.hsoub.com/design/graphic/photoshop/%D9%83%D9%8A%D9%81%D9%8A%D8%A9-%D8%AA%D8%B7%D8%A8%D9%8A%D9%82-%D8%AA%D8%A3%D8%AB%D9%8A%D8%B1-%D8%A7%D9%84%D8%A5%D8%B6%D8%A7%D8%A1%D8%A7%D8%AA-%D8%A7%D9%84%D9%85%D8%AE%D8%AA%D9%84%D9%81%D8%A9-%D8%B9%D9%84%D9%89-%D8%A7%D9%84%D8%B5%D9%88%D8%B1-%D8%A7%D9%84%D8%B4%D8%AE%D8%B5%D9%8A%D8%A9-%D9%81%D9%8A-%D8%A7%D9%84%D9%81%D9%88%D8%AA%D9%88%D8%B4%D9%88%D8%A8-r378/"/>
              </a:rPr>
              <a:t>Esta foto</a:t>
            </a:r>
            <a:r>
              <a:rPr lang="es-ES" sz="900"/>
              <a:t> de Autor desconocido está bajo licencia </a:t>
            </a:r>
            <a:r>
              <a:rPr lang="es-ES" sz="900">
                <a:hlinkClick r:id="rId6" tooltip="https://creativecommons.org/licenses/by-nc-sa/3.0/"/>
              </a:rPr>
              <a:t>CC BY-SA-NC</a:t>
            </a:r>
            <a:endParaRPr lang="es-ES" sz="9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986A49-7B6C-5EC3-2D28-3427DEA1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dirty="0">
                <a:solidFill>
                  <a:schemeClr val="bg1"/>
                </a:solidFill>
              </a:rPr>
              <a:t>📈 Consejos de mejora — Monitorización</a:t>
            </a:r>
            <a:br>
              <a:rPr lang="es-ES" b="0" dirty="0"/>
            </a:b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F06399-C846-4BF0-D8E2-4D2CD8DE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15</a:t>
            </a:fld>
            <a:endParaRPr lang="es-ES" dirty="0"/>
          </a:p>
        </p:txBody>
      </p:sp>
      <p:pic>
        <p:nvPicPr>
          <p:cNvPr id="10" name="ttsmaker-file-2026-9-17-13-27-13">
            <a:hlinkClick r:id="" action="ppaction://media"/>
            <a:extLst>
              <a:ext uri="{FF2B5EF4-FFF2-40B4-BE49-F238E27FC236}">
                <a16:creationId xmlns:a16="http://schemas.microsoft.com/office/drawing/2014/main" id="{E1A143CE-0EB8-FFFE-34D2-095A9EEDA7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43436" y="5031373"/>
            <a:ext cx="487363" cy="48736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2A182A9-3F79-52D9-7511-60C03C5EA009}"/>
              </a:ext>
            </a:extLst>
          </p:cNvPr>
          <p:cNvSpPr txBox="1"/>
          <p:nvPr/>
        </p:nvSpPr>
        <p:spPr>
          <a:xfrm>
            <a:off x="3024439" y="2696960"/>
            <a:ext cx="6145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📊 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Prometheus + </a:t>
            </a: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Grafana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→ métricas en tiempo real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🚨 </a:t>
            </a: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MonitorActivity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→ detectar caídas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📁 </a:t>
            </a: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Elasticsearch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/ </a:t>
            </a: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Splunk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→ logs centralizados</a:t>
            </a:r>
            <a:endParaRPr lang="es-ES" sz="975" b="0" dirty="0">
              <a:solidFill>
                <a:schemeClr val="bg1"/>
              </a:solidFill>
              <a:effectLst/>
              <a:latin typeface="Menlo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A7E7CE0-A70D-1BF3-451F-FE51FECE7C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3961" y="3620290"/>
            <a:ext cx="3314878" cy="31185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1208452-D947-CF84-C6F6-9407CD6DA0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994" y="4694211"/>
            <a:ext cx="1874682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9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77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17DE677-756D-BB7A-9825-35F6E7753D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-105633"/>
            <a:ext cx="12191999" cy="6986914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56D4846-FD7E-CF73-0C06-9EFD19A74698}"/>
              </a:ext>
            </a:extLst>
          </p:cNvPr>
          <p:cNvSpPr txBox="1"/>
          <p:nvPr/>
        </p:nvSpPr>
        <p:spPr>
          <a:xfrm>
            <a:off x="0" y="5920654"/>
            <a:ext cx="12191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>
                <a:hlinkClick r:id="rId5" tooltip="https://zoomgraf.blogspot.com/2013/01/fondos-degradee-de-colores-pasteles.html"/>
              </a:rPr>
              <a:t>Esta foto</a:t>
            </a:r>
            <a:r>
              <a:rPr lang="es-ES" sz="900"/>
              <a:t> de Autor desconocido está bajo licencia </a:t>
            </a:r>
            <a:r>
              <a:rPr lang="es-ES" sz="900">
                <a:hlinkClick r:id="rId6" tooltip="https://creativecommons.org/licenses/by-nc-nd/3.0/"/>
              </a:rPr>
              <a:t>CC BY-NC-ND</a:t>
            </a:r>
            <a:endParaRPr lang="es-ES" sz="9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F84126-80F7-55C1-FC51-98E6532A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dirty="0"/>
              <a:t>💻 Consejos de mejora — Recursos</a:t>
            </a:r>
            <a:br>
              <a:rPr lang="es-ES" b="0" dirty="0"/>
            </a:b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8A4211-4F0D-69AF-6411-DCD132A5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16</a:t>
            </a:fld>
            <a:endParaRPr lang="es-ES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B5AE392-4FE2-E553-CB53-3BE4C0B73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986779"/>
              </p:ext>
            </p:extLst>
          </p:nvPr>
        </p:nvGraphicFramePr>
        <p:xfrm>
          <a:off x="1149016" y="1636295"/>
          <a:ext cx="10052384" cy="3554564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026192">
                  <a:extLst>
                    <a:ext uri="{9D8B030D-6E8A-4147-A177-3AD203B41FA5}">
                      <a16:colId xmlns:a16="http://schemas.microsoft.com/office/drawing/2014/main" val="96397938"/>
                    </a:ext>
                  </a:extLst>
                </a:gridCol>
                <a:gridCol w="5026192">
                  <a:extLst>
                    <a:ext uri="{9D8B030D-6E8A-4147-A177-3AD203B41FA5}">
                      <a16:colId xmlns:a16="http://schemas.microsoft.com/office/drawing/2014/main" val="3161521999"/>
                    </a:ext>
                  </a:extLst>
                </a:gridCol>
              </a:tblGrid>
              <a:tr h="67144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Recurso</a:t>
                      </a:r>
                      <a:endParaRPr lang="es-ES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800">
                          <a:effectLst/>
                        </a:rPr>
                        <a:t>Recomendación</a:t>
                      </a:r>
                      <a:endParaRPr lang="es-ES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252269444"/>
                  </a:ext>
                </a:extLst>
              </a:tr>
              <a:tr h="110583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Memoria JVM</a:t>
                      </a:r>
                      <a:endParaRPr lang="es-ES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800">
                          <a:effectLst/>
                        </a:rPr>
                        <a:t>2 GB (&lt;1 GB datos) / 4 GB (1-10 GB) / 8 GB (&gt;10 GB)</a:t>
                      </a:r>
                      <a:endParaRPr lang="es-ES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17509444"/>
                  </a:ext>
                </a:extLst>
              </a:tr>
              <a:tr h="67144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Back </a:t>
                      </a:r>
                      <a:r>
                        <a:rPr lang="es-ES" sz="1800" dirty="0" err="1">
                          <a:effectLst/>
                        </a:rPr>
                        <a:t>Pressure</a:t>
                      </a:r>
                      <a:endParaRPr lang="es-ES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800">
                          <a:effectLst/>
                        </a:rPr>
                        <a:t>10.000 objetos / 1 GB en colas</a:t>
                      </a:r>
                      <a:endParaRPr lang="es-ES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76547430"/>
                  </a:ext>
                </a:extLst>
              </a:tr>
              <a:tr h="110583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800">
                          <a:effectLst/>
                        </a:rPr>
                        <a:t>Disco</a:t>
                      </a:r>
                      <a:endParaRPr lang="es-ES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SSD para </a:t>
                      </a:r>
                      <a:r>
                        <a:rPr lang="es-ES" sz="1800" dirty="0" err="1">
                          <a:effectLst/>
                        </a:rPr>
                        <a:t>content_repository</a:t>
                      </a:r>
                      <a:r>
                        <a:rPr lang="es-ES" sz="1800" dirty="0">
                          <a:effectLst/>
                        </a:rPr>
                        <a:t> y </a:t>
                      </a:r>
                      <a:r>
                        <a:rPr lang="es-ES" sz="1800" dirty="0" err="1">
                          <a:effectLst/>
                        </a:rPr>
                        <a:t>flowfile_repository</a:t>
                      </a:r>
                      <a:endParaRPr lang="es-ES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4586317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EA3B06AC-8EE6-B4D7-691F-399C74197A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653" y="4714695"/>
            <a:ext cx="2095682" cy="1844200"/>
          </a:xfrm>
          <a:prstGeom prst="rect">
            <a:avLst/>
          </a:prstGeom>
        </p:spPr>
      </p:pic>
      <p:pic>
        <p:nvPicPr>
          <p:cNvPr id="11" name="ttsmaker-file-2026-9-17-13-34-47">
            <a:hlinkClick r:id="" action="ppaction://media"/>
            <a:extLst>
              <a:ext uri="{FF2B5EF4-FFF2-40B4-BE49-F238E27FC236}">
                <a16:creationId xmlns:a16="http://schemas.microsoft.com/office/drawing/2014/main" id="{BC19029F-7C89-611B-5919-7019C96B00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656262" y="561304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2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Gracias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Judit Giravent</a:t>
            </a:r>
          </a:p>
          <a:p>
            <a:pPr rtl="0"/>
            <a:r>
              <a:rPr lang="es-ES" dirty="0" err="1"/>
              <a:t>Github</a:t>
            </a:r>
            <a:r>
              <a:rPr lang="es-ES" dirty="0"/>
              <a:t>: @jdthgp27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AD7145-066E-06C5-5A55-864362DC66C0}"/>
              </a:ext>
            </a:extLst>
          </p:cNvPr>
          <p:cNvSpPr txBox="1"/>
          <p:nvPr/>
        </p:nvSpPr>
        <p:spPr>
          <a:xfrm>
            <a:off x="745958" y="505016"/>
            <a:ext cx="3739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/>
              <a:t>🎯 Conclusiones</a:t>
            </a:r>
          </a:p>
          <a:p>
            <a:endParaRPr lang="es-ES" sz="3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ABF88AB-EEF6-2FB6-4696-BBA5A5F1E81F}"/>
              </a:ext>
            </a:extLst>
          </p:cNvPr>
          <p:cNvSpPr txBox="1"/>
          <p:nvPr/>
        </p:nvSpPr>
        <p:spPr>
          <a:xfrm>
            <a:off x="745958" y="1688670"/>
            <a:ext cx="6097002" cy="9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✅ Pipeline ETL funcional con 3 fuentes heterogéneas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✅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Dataset</a:t>
            </a: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final unificado (2,3 MB)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✅ Flujo automatizable y optimizable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✅ Lecciones aprendidas documentadas</a:t>
            </a:r>
            <a:endParaRPr lang="es-ES" sz="975" b="0" dirty="0">
              <a:solidFill>
                <a:srgbClr val="0F1115"/>
              </a:solidFill>
              <a:effectLst/>
              <a:latin typeface="Menlo"/>
            </a:endParaRPr>
          </a:p>
        </p:txBody>
      </p:sp>
      <p:pic>
        <p:nvPicPr>
          <p:cNvPr id="7" name="ttsmaker-file-2026-9-17-13-37-27">
            <a:hlinkClick r:id="" action="ppaction://media"/>
            <a:extLst>
              <a:ext uri="{FF2B5EF4-FFF2-40B4-BE49-F238E27FC236}">
                <a16:creationId xmlns:a16="http://schemas.microsoft.com/office/drawing/2014/main" id="{AEF00D0E-B9DF-DAE3-2DB5-1BDB1543DC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57731" y="596382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ersonalizar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542_TF16411248_Win32" id="{907FDA46-549C-456B-8420-E867E62B2FE6}" vid="{41853330-4B42-4EFA-9F1D-FE1C2158CEF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{6B17A2C9-FA9F-46A8-9FA9-9269F3F26FE1}TFb05bf529-a1dc-42d5-b9d6-8a1e9569dd9c0c094e88_win32-21cf92011842</Template>
  <TotalTime>102</TotalTime>
  <Words>707</Words>
  <Application>Microsoft Office PowerPoint</Application>
  <PresentationFormat>Panorámica</PresentationFormat>
  <Paragraphs>174</Paragraphs>
  <Slides>17</Slides>
  <Notes>13</Notes>
  <HiddenSlides>0</HiddenSlides>
  <MMClips>17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Avenir Next LT Pro Light</vt:lpstr>
      <vt:lpstr>Calibri</vt:lpstr>
      <vt:lpstr>Menlo</vt:lpstr>
      <vt:lpstr>Posterama</vt:lpstr>
      <vt:lpstr>quote-cjk-patch</vt:lpstr>
      <vt:lpstr>Personalizar</vt:lpstr>
      <vt:lpstr>Reto 3 — Diseño y Optimización de Flujos ETL Avanzados</vt:lpstr>
      <vt:lpstr>🎯 El reto  </vt:lpstr>
      <vt:lpstr>🔧 Elección de la herramienta ETL</vt:lpstr>
      <vt:lpstr>📊 3 fuentes heterogéneas</vt:lpstr>
      <vt:lpstr>Arquitectura del pipeline</vt:lpstr>
      <vt:lpstr>📄 Rama CSV — Ventas Retail</vt:lpstr>
      <vt:lpstr>🌐 Rama API — Precios de Criptomonedas</vt:lpstr>
      <vt:lpstr>🗄️ Rama SQLite — Clientes</vt:lpstr>
      <vt:lpstr>🔗 Unión final con MergeContent</vt:lpstr>
      <vt:lpstr>✅ Resultado final</vt:lpstr>
      <vt:lpstr>⚠️ Problemas encontrados y soluciones</vt:lpstr>
      <vt:lpstr>⚡ Consejos de mejora — Rendimiento</vt:lpstr>
      <vt:lpstr>🛡️ Consejos de mejora — Robustez </vt:lpstr>
      <vt:lpstr>Mejoras (III): Mantenibilidad </vt:lpstr>
      <vt:lpstr>📈 Consejos de mejora — Monitorización </vt:lpstr>
      <vt:lpstr>💻 Consejos de mejora — Recursos 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3</cp:revision>
  <dcterms:created xsi:type="dcterms:W3CDTF">2026-09-17T09:55:54Z</dcterms:created>
  <dcterms:modified xsi:type="dcterms:W3CDTF">2026-09-17T11:38:47Z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